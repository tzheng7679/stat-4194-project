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sv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svg"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sv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sv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sv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sv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sv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STAT 4194 Project</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Andre Contreras</a:t>
            </a:r>
            <a:br/>
            <a:r>
              <a:rPr/>
              <a:t>Jiayi Gao</a:t>
            </a:r>
            <a:br/>
            <a:r>
              <a:rPr/>
              <a:t>Mitch Krenz</a:t>
            </a:r>
            <a:br/>
            <a:r>
              <a:rPr/>
              <a:t>Paarth Mahajan</a:t>
            </a:r>
            <a:br/>
            <a:r>
              <a:rPr/>
              <a:t>Tony Zheng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Packages Used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Data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Model Fits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ER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a:buNone/>
                </a:pPr>
                <a:r>
                  <a:rPr>
                    <a:latin typeface="Courier"/>
                  </a:rPr>
                  <a:t>                      Title Nodes Edges P_Estimate Obs_Clustering ER_Clustering
1          The Last Samurai    20    54     0.2842         0.4884        0.2644
2            Reservoir Dogs    21    82     0.3905         0.7108        0.4379
3                Black Rain    27    69     0.1966         0.3405        0.1756
4              Blade Runner    25    44     0.1467         0.3261        0.1533
5                The Reader    29    55     0.1355         0.3101        0.0933
6                      TRON    27   111     0.3162         0.5895        0.2984
7                 Leviathan    12    44     0.6667         0.7880        0.5806
8       Alien: Resurrection    27   141     0.4017         0.7254        0.4082
9             Thirteen Days    48   146     0.1294         0.4756        0.1604
10          The Crying Game    15    39     0.3714         0.5560        0.2474
11        Lord of Illusions    28    64     0.1693         0.3863        0.1378
12            Sugar &amp; Spice    40   124     0.1590         0.4193        0.1636
13 The Last of the Mohicans    29   134     0.3300         0.6147        0.3760
14                    Crank    40    75     0.0962         0.1633        0.0786
15              Being Human    59   154     0.0900         0.3265        0.0624
16        The King's Speech    26    80     0.2462         0.5054        0.2332
17            Chasing Sleep    17    40     0.2941         0.4488        0.3119
18         Death to Smoochy    49   118     0.1003         0.3704        0.0870
19              French Kiss    68   158     0.0694         0.1773        0.0433
20                 Coraline    42   108     0.1254         0.2778        0.1298
   Obs_Modularity ER_Modularity       Top_Partnership Max_Scenes
1          0.1916        0.2451    ALGREN &amp; KATSUMOTO         12
2          0.1792        0.1250    MR PINK &amp; MR WHITE          8
3          0.1847        0.3321            NICK &amp; ICH         20
4          0.4661        0.3586     DECKARD &amp; RACHAEL          8
5          0.2833        0.3840       MICHAEL &amp; HANNA         11
6          0.2481        0.1952           BIT &amp; FLYNN          7
7          0.0313        0.1056          JONES &amp; BECK         20
8          0.0716        0.1756         RIPLEY &amp; CALL         13
9          0.1532        0.2899 KENNY &amp; THE PRESIDENT         16
10         0.1183        0.2967          FERGUS &amp; DIL         21
11         0.2100        0.3783      HARRY &amp; DOROTHEA         11
12         0.2489        0.3264        DIANE &amp; KANSAS         11
13         0.2632        0.1737        HEYWARD &amp; CORA         10
14         0.1899        0.4264            CHEV &amp; EVE         13
15         0.4603        0.3600        HECTOR &amp; BETSY          8
16         0.2673        0.2576       BERTIE &amp; LIONEL          9
17         0.0952        0.2089             ED &amp; DERM         10
18         0.3820        0.3666        NORA &amp; SHELDON         13
19         0.3048        0.3765     FRANCES &amp; OMITTED         14
20         0.3273        0.2961        CORALINE &amp; MEL          8</a:t>
                </a:r>
              </a:p>
              <a:p>
                <a:pPr lvl="0" indent="0" marL="0">
                  <a:buNone/>
                </a:pPr>
                <a:r>
                  <a:rPr/>
                  <a:t>To analyze the movie character networks, I imported the co-appearance data for 20 films, treating each character as a node and their shared scenes as weighted edges. I then calculated the density (</a:t>
                </a:r>
                <a14:m>
                  <m:oMath xmlns:m="http://schemas.openxmlformats.org/officeDocument/2006/math">
                    <m:acc>
                      <m:accPr>
                        <m:chr m:val="̂"/>
                      </m:accPr>
                      <m:e>
                        <m:r>
                          <m:t>p</m:t>
                        </m:r>
                      </m:e>
                    </m:acc>
                  </m:oMath>
                </a14:m>
                <a:r>
                  <a:rPr/>
                  <a:t>) of each real network to establish a baseline for the Erdos-Rényi (ER) model, which assumes that every relationship forms with equal, independent probability. By simulating these random “null” graphs, we compared the </a:t>
                </a:r>
                <a:r>
                  <a:rPr b="1"/>
                  <a:t>observed</a:t>
                </a:r>
                <a:r>
                  <a:rPr/>
                  <a:t> structural metrics, specifically transitivity and modularity, against the values expected by pure chance to determine if cinematic social structures follow a random or intentional design.</a:t>
                </a:r>
              </a:p>
              <a:p>
                <a:pPr lvl="0" indent="0" marL="0">
                  <a:spcBef>
                    <a:spcPts val="3000"/>
                  </a:spcBef>
                  <a:buNone/>
                </a:pPr>
                <a:r>
                  <a:rPr b="1"/>
                  <a:t>Analysis of ER Model</a:t>
                </a:r>
              </a:p>
              <a:p>
                <a:pPr lvl="0" indent="0" marL="0">
                  <a:buNone/>
                </a:pPr>
                <a:r>
                  <a:rPr/>
                  <a:t>The data reveals a massive clustering gap between the real observed movies and my simulation. In the actual films, the </a:t>
                </a:r>
                <a:r>
                  <a:rPr>
                    <a:latin typeface="Courier"/>
                  </a:rPr>
                  <a:t>Obs_Clustering</a:t>
                </a:r>
                <a:r>
                  <a:rPr/>
                  <a:t> is consistently two to three times higher than the </a:t>
                </a:r>
                <a:r>
                  <a:rPr>
                    <a:latin typeface="Courier"/>
                  </a:rPr>
                  <a:t>ER_Clustering</a:t>
                </a:r>
                <a:r>
                  <a:rPr/>
                  <a:t>. This shows that movie characters don’t just meet at random. They form tight “cliques” where a friend of a friend is almost always your friend too.</a:t>
                </a:r>
                <a:br/>
                <a:br/>
                <a:r>
                  <a:rPr/>
                  <a:t>My simulation would also theoretically struggle to replicate the </a:t>
                </a:r>
                <a:r>
                  <a:rPr>
                    <a:latin typeface="Courier"/>
                  </a:rPr>
                  <a:t>Top_Partnership</a:t>
                </a:r>
                <a:r>
                  <a:rPr/>
                  <a:t> and </a:t>
                </a:r>
                <a:r>
                  <a:rPr>
                    <a:latin typeface="Courier"/>
                  </a:rPr>
                  <a:t>Max_scenes</a:t>
                </a:r>
                <a:r>
                  <a:rPr/>
                  <a:t> columns. The one’s in the table are data from the observed data. In a simulation, all characters would have the same number of co-appearances with the same weight.</a:t>
                </a:r>
                <a:b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AME Model</a:t>
            </a:r>
          </a:p>
        </p:txBody>
      </p:sp>
      <p:sp>
        <p:nvSpPr>
          <p:cNvPr id="3" name="Content Placeholder 2"/>
          <p:cNvSpPr>
            <a:spLocks noGrp="1"/>
          </p:cNvSpPr>
          <p:nvPr>
            <p:ph idx="1"/>
          </p:nvPr>
        </p:nvSpPr>
        <p:spPr/>
        <p:txBody>
          <a:bodyPr/>
          <a:lstStyle/>
          <a:p>
            <a:pPr lvl="0" indent="0" marL="0">
              <a:buNone/>
            </a:pPr>
            <a:r>
              <a:rPr/>
              <a:t>For the AME model, we only use the sociality and multiplicative effects (R = 2), since there are no dyadic or nodal attributes for the characters.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AME Model Type</a:t>
            </a:r>
          </a:p>
        </p:txBody>
      </p:sp>
      <p:sp>
        <p:nvSpPr>
          <p:cNvPr id="3" name="Content Placeholder 2"/>
          <p:cNvSpPr>
            <a:spLocks noGrp="1"/>
          </p:cNvSpPr>
          <p:nvPr>
            <p:ph idx="1"/>
          </p:nvPr>
        </p:nvSpPr>
        <p:spPr/>
        <p:txBody>
          <a:bodyPr/>
          <a:lstStyle/>
          <a:p>
            <a:pPr lvl="0" indent="0" marL="0">
              <a:buNone/>
            </a:pPr>
            <a:r>
              <a:rPr/>
              <a:t>We also used a fixed rank nomination model, to fit for the count adjacency data (# of scenes shared). For example</a:t>
            </a:r>
          </a:p>
          <a:p>
            <a:pPr lvl="0" indent="0">
              <a:buNone/>
            </a:pPr>
            <a:r>
              <a:rPr>
                <a:latin typeface="Courier"/>
              </a:rPr>
              <a:t>           CAMERON PATRICK TREVOR MICHAEL MR CHAPIN BRUCE DEREK JOCK MRS BLAISE
CAMERON         NA       6      0       8         0     0     1    0          0
PATRICK          6      NA      0       4         1     1     0    0          1
TREVOR           0       0     NA       0         0     0     0    0          0
MICHAEL          8       4      0      NA         0     0     1    0          0
MR CHAPIN        0       1      0       0        NA     0     0    0          0
BRUCE            0       1      0       0         0    NA     0    0          0
DEREK            1       0      0       1         0     0    NA    0          1
JOCK             0       0      0       0         0     0     0   NA          0
MRS BLAISE       0       1      0       0         0     0     1    0         NA
RIDER            0       0      0       0         0     0     0    0          0
JOEY             3       5      0       2         0     0     2    1          2
CLEM             0       0      0       0         0     0     1    0          1
KAT              2      13      0       2         1     1     0    1          3
TEACHER          0       0      0       0         0     0     0    0          0
MANDELLA         1       1      1       3         0     1     0    0          0
COWBOY           1       0      0       0         0     0     1    0          0
BIANCA           8       2      0       1         0     0     1    1          0
CHASTITY         2       0      0       1         0     0     0    0          0
WALTER           2       1      0       0         0     0     0    0          0
SHARON           1       0      0       0         0     0     0    0          0
MISS PERKY       2       3      0       1         0     0     0    0          0
           RIDER JOEY CLEM KAT TEACHER MANDELLA COWBOY BIANCA CHASTITY WALTER
CAMERON        0    3    0   2       0        1      1      8        2      2
PATRICK        0    5    0  13       0        1      0      2        0      1
TREVOR         0    0    0   0       0        1      0      0        0      0
MICHAEL        0    2    0   2       0        3      0      1        1      0
MR CHAPIN      0    0    0   1       0        0      0      0        0      0
BRUCE          0    0    0   1       0        1      0      0        0      0
DEREK          0    2    1   0       0        0      1      1        0      0
JOCK           0    1    0   1       0        0      0      1        0      0
MRS BLAISE     0    2    1   3       0        0      0      0        0      0
RIDER         NA    0    0   1       0        0      0      0        0      0
JOEY           0   NA    1   4       0        1      1      5        1      1
CLEM           0    1   NA   0       0        0      0      0        0      0
KAT            1    4    0  NA       1        6      0     11        1      4
TEACHER        0    0    0   1      NA        1      0      1        0      0
MANDELLA       0    1    0   6       1       NA      0      0        0      0
COWBOY         0    1    0   0       0        0     NA      1        0      0
BIANCA         0    5    0  11       1        0      1     NA        5      4
CHASTITY       0    1    0   1       0        0      0      5       NA      0
WALTER         0    1    0   4       0        0      0      4        0     NA
SHARON         0    1    0   2       0        0      0      3        0      3
MISS PERKY     0    0    0   2       0        0      0      1        0      0
           SHARON MISS PERKY
CAMERON         1          2
PATRICK         0          3
TREVOR          0          0
MICHAEL         0          1
MR CHAPIN       0          0
BRUCE           0          0
DEREK           0          0
JOCK            0          0
MRS BLAISE      0          0
RIDER           0          0
JOEY            1          0
CLEM            0          0
KAT             2          2
TEACHER         0          0
MANDELLA        0          0
COWBOY          0          0
BIANCA          3          1
CHASTITY        0          0
WALTER          3          0
SHARON         NA          0
MISS PERKY      0         NA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Movie Specific Examples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Things I Hate About You</a:t>
            </a:r>
          </a:p>
        </p:txBody>
      </p:sp>
      <p:sp>
        <p:nvSpPr>
          <p:cNvPr id="3" name="Content Placeholder 2"/>
          <p:cNvSpPr>
            <a:spLocks noGrp="1"/>
          </p:cNvSpPr>
          <p:nvPr>
            <p:ph idx="1"/>
          </p:nvPr>
        </p:nvSpPr>
        <p:spPr/>
        <p:txBody>
          <a:bodyPr/>
          <a:lstStyle/>
          <a:p>
            <a:pPr lvl="0" indent="0" marL="0">
              <a:buNone/>
            </a:pPr>
            <a:r>
              <a:rPr b="1"/>
              <a:t>Kat, Patrick</a:t>
            </a:r>
            <a:r>
              <a:rPr/>
              <a:t> - Primary love interests</a:t>
            </a:r>
          </a:p>
          <a:p>
            <a:pPr lvl="0" indent="0" marL="0">
              <a:buNone/>
            </a:pPr>
            <a:r>
              <a:rPr b="1"/>
              <a:t>Bianca, Cameron</a:t>
            </a:r>
            <a:r>
              <a:rPr/>
              <a:t> - Secondary love interests</a:t>
            </a:r>
          </a:p>
          <a:p>
            <a:pPr lvl="0" indent="0" marL="0">
              <a:buNone/>
            </a:pPr>
            <a:r>
              <a:rPr b="1"/>
              <a:t>Joey</a:t>
            </a:r>
            <a:r>
              <a:rPr/>
              <a:t> - Main antagonist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Plot</a:t>
            </a:r>
          </a:p>
        </p:txBody>
      </p:sp>
      <p:pic>
        <p:nvPicPr>
          <p:cNvPr descr="project_files/figure-pptx/10%20things%20I%20hate%20about%20you-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Latent Positions Plot</a:t>
            </a:r>
          </a:p>
        </p:txBody>
      </p:sp>
      <p:pic>
        <p:nvPicPr>
          <p:cNvPr descr="project_files/figure-pptx/plot%2010%20things%20graph-1.svg" id="0" name="Picture 1"/>
          <p:cNvPicPr>
            <a:picLocks noGrp="1" noChangeAspect="1"/>
          </p:cNvPicPr>
          <p:nvPr/>
        </p:nvPicPr>
        <p:blipFill>
          <a:blip r:embed="rId2"/>
          <a:stretch>
            <a:fillRect/>
          </a:stretch>
        </p:blipFill>
        <p:spPr bwMode="auto">
          <a:xfrm>
            <a:off x="1562100" y="1193800"/>
            <a:ext cx="60325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 Wars</a:t>
            </a:r>
          </a:p>
        </p:txBody>
      </p:sp>
      <p:sp>
        <p:nvSpPr>
          <p:cNvPr id="3" name="Content Placeholder 2"/>
          <p:cNvSpPr>
            <a:spLocks noGrp="1"/>
          </p:cNvSpPr>
          <p:nvPr>
            <p:ph idx="1"/>
          </p:nvPr>
        </p:nvSpPr>
        <p:spPr/>
        <p:txBody>
          <a:bodyPr/>
          <a:lstStyle/>
          <a:p>
            <a:pPr lvl="0" indent="0" marL="0">
              <a:buNone/>
            </a:pPr>
            <a:r>
              <a:rPr b="1"/>
              <a:t>Main characters:</a:t>
            </a:r>
            <a:r>
              <a:rPr/>
              <a:t> Threepio, Leia, Han, Luke</a:t>
            </a:r>
          </a:p>
          <a:p>
            <a:pPr lvl="0" indent="0" marL="0">
              <a:buNone/>
            </a:pPr>
            <a:r>
              <a:rPr b="1"/>
              <a:t>Main Antagonists:</a:t>
            </a:r>
            <a:r>
              <a:rPr/>
              <a:t> Darth Vader, Boba Fett, Emperor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Plot</a:t>
            </a:r>
          </a:p>
        </p:txBody>
      </p:sp>
      <p:pic>
        <p:nvPicPr>
          <p:cNvPr descr="project_files/figure-pptx/plot%20star%20wars%20model-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Latent Positions Plot</a:t>
            </a:r>
          </a:p>
        </p:txBody>
      </p:sp>
      <p:pic>
        <p:nvPicPr>
          <p:cNvPr descr="project_files/figure-pptx/plot%20star%20wars%20graph-1.svg" id="0" name="Picture 1"/>
          <p:cNvPicPr>
            <a:picLocks noGrp="1" noChangeAspect="1"/>
          </p:cNvPicPr>
          <p:nvPr/>
        </p:nvPicPr>
        <p:blipFill>
          <a:blip r:embed="rId2"/>
          <a:stretch>
            <a:fillRect/>
          </a:stretch>
        </p:blipFill>
        <p:spPr bwMode="auto">
          <a:xfrm>
            <a:off x="1562100" y="1193800"/>
            <a:ext cx="60325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General Results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Random Movie Sample</a:t>
            </a:r>
          </a:p>
        </p:txBody>
      </p:sp>
      <p:sp>
        <p:nvSpPr>
          <p:cNvPr id="3" name="Content Placeholder 2"/>
          <p:cNvSpPr>
            <a:spLocks noGrp="1"/>
          </p:cNvSpPr>
          <p:nvPr>
            <p:ph idx="1"/>
          </p:nvPr>
        </p:nvSpPr>
        <p:spPr/>
        <p:txBody>
          <a:bodyPr/>
          <a:lstStyle/>
          <a:p>
            <a:pPr lvl="0" indent="0" marL="0">
              <a:buNone/>
            </a:pPr>
            <a:r>
              <a:rPr/>
              <a:t>Took random sample of 20 movies and ran same procedure…</a:t>
            </a:r>
          </a:p>
          <a:p>
            <a:pPr lvl="0" indent="0">
              <a:buNone/>
            </a:pPr>
            <a:r>
              <a:rPr>
                <a:latin typeface="Courier"/>
              </a:rPr>
              <a:t> [1] "The Last Samurai"         "Reservoir Dogs"          
 [3] "Black Rain"               "Blade Runner"            
 [5] "The Reader"               "TRON"                    
 [7] "Leviathan"                "Alien: Resurrection"     
 [9] "Thirteen Days"            "The Crying Game"         
[11] "Lord of Illusions"        "Sugar &amp; Spice"           
[13] "The Last of the Mohicans" "Crank"                   
[15] "Being Human"              "The King's Speech"       
[17] "Chasing Sleep"            "Death to Smoochy"        
[19] "French Kiss"              "Coraline"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Goodness of Fits Residuals</a:t>
            </a:r>
          </a:p>
        </p:txBody>
      </p:sp>
      <p:pic>
        <p:nvPicPr>
          <p:cNvPr descr="project_files/figure-pptx/gof%20boxplots-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Observed vs Residual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sd(rowmean)</a:t>
            </a:r>
          </a:p>
        </p:txBody>
      </p:sp>
      <p:pic>
        <p:nvPicPr>
          <p:cNvPr descr="project_files/figure-pptx/sd.rowmean-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sd(colmean)</a:t>
            </a:r>
          </a:p>
        </p:txBody>
      </p:sp>
      <p:pic>
        <p:nvPicPr>
          <p:cNvPr descr="project_files/figure-pptx/sd.colmean-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dyad.dep</a:t>
            </a:r>
          </a:p>
        </p:txBody>
      </p:sp>
      <p:pic>
        <p:nvPicPr>
          <p:cNvPr descr="project_files/figure-pptx/dyad.dep-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cycle.dep</a:t>
            </a:r>
          </a:p>
        </p:txBody>
      </p:sp>
      <p:pic>
        <p:nvPicPr>
          <p:cNvPr descr="project_files/figure-pptx/cycle.dep-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trans.dep</a:t>
            </a:r>
          </a:p>
        </p:txBody>
      </p:sp>
      <p:pic>
        <p:nvPicPr>
          <p:cNvPr descr="project_files/figure-pptx/trans.dep-1.sv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4194 Project</dc:title>
  <dc:creator>Andre Contreras; Jiayi Gao; Mitch Krenz; Paarth Mahajan; Tony Zheng</dc:creator>
  <cp:keywords/>
  <dcterms:created xsi:type="dcterms:W3CDTF">2026-04-19T20:15:10Z</dcterms:created>
  <dcterms:modified xsi:type="dcterms:W3CDTF">2026-04-19T20:15:10Z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xecute">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